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65760" y="274320"/>
            <a:ext cx="11460175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800" b="1">
                <a:solidFill>
                  <a:srgbClr val="60A5FA"/>
                </a:solidFill>
              </a:defRPr>
            </a:pPr>
            <a:r>
              <a:t>ONE-PAGER CAPM: SÍNTESIS INTEGRADA DE LOS 10 EXPEDIENTES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La Beta de los Pobres (SOL vs NCI) y Acciones de Bajo Precio frente a ETF Sectoriales | Cliente: Doña Victoria | Estudiante: Julián Duarte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43000"/>
            <a:ext cx="2724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UNIVERSO ANALIZADO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10 Activos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1 Cripto + 9 Acciones en 3 Sectores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73552" y="1143000"/>
            <a:ext cx="2724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MÁXIMA BETA CAPM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1.94 (KLXE)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Sensibilidad extrema de mercado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81344" y="1143000"/>
            <a:ext cx="2724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PEOR MAX DRAWDOWN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-93.9% (MVIS)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Destrucción severa de capital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89136" y="1143000"/>
            <a:ext cx="2724912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900" b="1">
                <a:solidFill>
                  <a:srgbClr val="10B981"/>
                </a:solidFill>
              </a:defRPr>
            </a:pPr>
            <a:r>
              <a:t>EXCESO RETORNO &gt; CAPM</a:t>
            </a:r>
          </a:p>
          <a:p>
            <a:pPr>
              <a:defRPr sz="1600" b="1">
                <a:solidFill>
                  <a:srgbClr val="F8FAFC"/>
                </a:solidFill>
              </a:defRPr>
            </a:pPr>
            <a:r>
              <a:t>4 / 10 Activos</a:t>
            </a:r>
          </a:p>
          <a:p>
            <a:pPr>
              <a:defRPr sz="850">
                <a:solidFill>
                  <a:srgbClr val="94A3B8"/>
                </a:solidFill>
              </a:defRPr>
            </a:pPr>
            <a:r>
              <a:t>KOPN (+38.7pp), LIDR, CTMX, TTI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29968"/>
            <a:ext cx="35661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sz="1100" b="1">
                <a:solidFill>
                  <a:srgbClr val="60A5FA"/>
                </a:solidFill>
              </a:defRPr>
            </a:pPr>
            <a:r>
              <a:t>1. BRECHA RETORNO OBSERVADO VS CAPM</a:t>
            </a:r>
          </a:p>
        </p:txBody>
      </p:sp>
      <p:pic>
        <p:nvPicPr>
          <p:cNvPr id="9" name="Picture 8" descr="07_brecha_retorno_ca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31720"/>
            <a:ext cx="3383280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041648" y="2029968"/>
            <a:ext cx="41148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91440"/>
          <a:lstStyle/>
          <a:p>
            <a:pPr algn="ctr">
              <a:defRPr sz="1100" b="1">
                <a:solidFill>
                  <a:srgbClr val="A78BFA"/>
                </a:solidFill>
              </a:defRPr>
            </a:pPr>
            <a:r>
              <a:t>2. MAPA INTEGRADOR: BETA VS MAX DRAWDOWN</a:t>
            </a:r>
          </a:p>
        </p:txBody>
      </p:sp>
      <p:pic>
        <p:nvPicPr>
          <p:cNvPr id="11" name="Picture 10" descr="09_mapa_beta_draw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087" y="2331720"/>
            <a:ext cx="3931920" cy="3657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57031" y="2029968"/>
            <a:ext cx="356616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91440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3. DECISIÓN PARA DOÑA VICTORIA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🛡️ Conservación: RECHAZAR TODO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Evitar los 10 expedientes por extrema volatilidad e iliquidez. Asignar 100% a T-Bills (DGS3MO).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📈 Crecimiento: ETF BENCHMARK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No usar penny stocks por fragilidad operativa. Usar ETF sectoriales (XLK, XBI, XLE).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⚡ Especulación: MÁX 1% - 2%</a:t>
            </a:r>
          </a:p>
          <a:p>
            <a:pPr>
              <a:defRPr sz="850">
                <a:solidFill>
                  <a:srgbClr val="E2E8F0"/>
                </a:solidFill>
              </a:defRPr>
            </a:pPr>
            <a:r>
              <a:t>Cupo pequeño en SOL o KOPN/TTI (alfa positivo) con stop-loss del 15% presupuestado.</a:t>
            </a:r>
          </a:p>
        </p:txBody>
      </p:sp>
      <p:pic>
        <p:nvPicPr>
          <p:cNvPr id="13" name="Picture 12" descr="06_matriz_percent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8472" y="4297680"/>
            <a:ext cx="3383280" cy="17373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5760" y="6217920"/>
            <a:ext cx="11460175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73152"/>
          <a:lstStyle/>
          <a:p>
            <a:pPr algn="ctr">
              <a:defRPr sz="1000" b="1">
                <a:solidFill>
                  <a:srgbClr val="F8FAFC"/>
                </a:solidFill>
              </a:defRPr>
            </a:pPr>
            <a:r>
              <a:t>📣 VEREDICTO FINAL: "El 25% anual sin caídas es un espejismo. El CAPM mide la factura real del riesgo y la iliquidez."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